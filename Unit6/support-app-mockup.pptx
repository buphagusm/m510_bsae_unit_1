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7"/>
    <p:restoredTop sz="94610"/>
  </p:normalViewPr>
  <p:slideViewPr>
    <p:cSldViewPr snapToGrid="0" snapToObjects="1">
      <p:cViewPr>
        <p:scale>
          <a:sx n="183" d="100"/>
          <a:sy n="183" d="100"/>
        </p:scale>
        <p:origin x="640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8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75C8-3D2E-7BE5-4DD6-8680A22D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8728A-A43E-B31F-F3ED-7AE1BD343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A8F65-6A02-A4F7-A615-4E1514DC2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13FC0-C509-2D6A-9A59-3C6C8640B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07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7897-0625-9838-6DCC-F7168459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89883-3015-93D7-A3AA-732F9CBCB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4C337-1628-E254-4F1F-57AE6B268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8B9B2-3242-6167-C1AD-22DFCF9BF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40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3FE0767-D468-7C6B-1D16-71F0146ED2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73320"/>
            <a:ext cx="4476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C2 - Intern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2C39A"/>
                </a:solidFill>
              </a:rPr>
              <a:t>SUPPORT APP — MOCKUP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Neues Ticket erfassen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EE3"/>
                </a:solidFill>
              </a:rPr>
              <a:t>UX Mockup · Übung Modul Web Design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361188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8DEE3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188720" y="3657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A88F"/>
                </a:solidFill>
              </a:rPr>
              <a:t>ANSICHT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3913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Ticket-Formular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61188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8DEE3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11880" y="3657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A88F"/>
                </a:solidFill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11880" y="3913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16 : 9 · PowerPoint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361188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8DEE3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035040" y="3657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A88F"/>
                </a:solidFill>
              </a:rPr>
              <a:t>SLIDES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0" y="3913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Seiten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B75"/>
                </a:solidFill>
              </a:rPr>
              <a:t>Web Design · Mockup-Übung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013D48"/>
          </a:solidFill>
          <a:ln w="12700">
            <a:solidFill>
              <a:srgbClr val="013D4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0" y="228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0972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" y="1097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EE3"/>
                </a:solidFill>
              </a:rPr>
              <a:t>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+ </a:t>
            </a:r>
            <a:r>
              <a:rPr lang="en-US" sz="1100" dirty="0" err="1">
                <a:solidFill>
                  <a:srgbClr val="C8DEE3"/>
                </a:solidFill>
              </a:rPr>
              <a:t>Neues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C8DEE3"/>
                </a:solidFill>
              </a:rPr>
              <a:t>Ticket</a:t>
            </a:r>
          </a:p>
        </p:txBody>
      </p:sp>
      <p:sp>
        <p:nvSpPr>
          <p:cNvPr id="9" name="Text 7"/>
          <p:cNvSpPr/>
          <p:nvPr/>
        </p:nvSpPr>
        <p:spPr>
          <a:xfrm>
            <a:off x="9144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EE3"/>
                </a:solidFill>
              </a:rPr>
              <a:t>Einstellungen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B75"/>
                </a:solidFill>
              </a:rPr>
              <a:t>v1.0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63040" y="0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737360" y="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Alle Tickets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B75"/>
                </a:solidFill>
              </a:rPr>
              <a:t>Tickets  /  Neues Ticket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8229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 </a:t>
            </a:r>
            <a:r>
              <a:rPr lang="en-US" sz="2000" b="1" dirty="0" err="1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Übersicht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12344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A6B75"/>
                </a:solidFill>
              </a:rPr>
              <a:t>Übersicht</a:t>
            </a:r>
            <a:r>
              <a:rPr lang="en-US" sz="1000" dirty="0">
                <a:solidFill>
                  <a:srgbClr val="4A6B75"/>
                </a:solidFill>
              </a:rPr>
              <a:t> </a:t>
            </a:r>
            <a:r>
              <a:rPr lang="en-US" sz="1000" dirty="0" err="1">
                <a:solidFill>
                  <a:srgbClr val="4A6B75"/>
                </a:solidFill>
              </a:rPr>
              <a:t>aller</a:t>
            </a:r>
            <a:r>
              <a:rPr lang="en-US" sz="1000" dirty="0">
                <a:solidFill>
                  <a:srgbClr val="4A6B75"/>
                </a:solidFill>
              </a:rPr>
              <a:t> </a:t>
            </a:r>
            <a:r>
              <a:rPr lang="en-US" sz="1000" dirty="0" err="1">
                <a:solidFill>
                  <a:srgbClr val="4A6B75"/>
                </a:solidFill>
              </a:rPr>
              <a:t>erfassten</a:t>
            </a:r>
            <a:r>
              <a:rPr lang="en-US" sz="1000" dirty="0">
                <a:solidFill>
                  <a:srgbClr val="4A6B75"/>
                </a:solidFill>
              </a:rPr>
              <a:t> Tickets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1508760"/>
            <a:ext cx="7406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1E3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7" name="Text 15"/>
          <p:cNvSpPr/>
          <p:nvPr/>
        </p:nvSpPr>
        <p:spPr>
          <a:xfrm>
            <a:off x="1783080" y="1645920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Titel *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1883664"/>
            <a:ext cx="1136469" cy="365760"/>
          </a:xfrm>
          <a:prstGeom prst="roundRect">
            <a:avLst>
              <a:gd name="adj" fmla="val 17500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814431" y="1860804"/>
            <a:ext cx="96795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19549" y="1665514"/>
            <a:ext cx="107768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Beschreibung 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57431" y="1874520"/>
            <a:ext cx="3195175" cy="385354"/>
          </a:xfrm>
          <a:prstGeom prst="roundRect">
            <a:avLst>
              <a:gd name="adj" fmla="val 8974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2942407" y="1874519"/>
            <a:ext cx="3210199" cy="219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 Sie das Problem so genau wie möglich ...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7019" y="1645920"/>
            <a:ext cx="7576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Priorität 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54665" y="162632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Kategorie *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7019" y="1883664"/>
            <a:ext cx="706393" cy="365760"/>
          </a:xfrm>
          <a:prstGeom prst="roundRect">
            <a:avLst>
              <a:gd name="adj" fmla="val 17500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6288459" y="1947672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F4900C"/>
          </a:solidFill>
          <a:ln w="12700">
            <a:solidFill>
              <a:srgbClr val="F4900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288459" y="19659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Mittel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6827" y="1879965"/>
            <a:ext cx="914400" cy="365760"/>
          </a:xfrm>
          <a:prstGeom prst="roundRect">
            <a:avLst>
              <a:gd name="adj" fmla="val 17500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970200" y="190481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Hardware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32563" y="1849342"/>
            <a:ext cx="467648" cy="410532"/>
          </a:xfrm>
          <a:prstGeom prst="roundRect">
            <a:avLst>
              <a:gd name="adj" fmla="val 20455"/>
            </a:avLst>
          </a:prstGeom>
          <a:solidFill>
            <a:srgbClr val="FF7E79"/>
          </a:solidFill>
          <a:ln w="1905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4" name="Shape 32"/>
          <p:cNvSpPr/>
          <p:nvPr/>
        </p:nvSpPr>
        <p:spPr>
          <a:xfrm>
            <a:off x="8488510" y="1860559"/>
            <a:ext cx="425145" cy="402336"/>
          </a:xfrm>
          <a:prstGeom prst="roundRect">
            <a:avLst>
              <a:gd name="adj" fmla="val 20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8112034" y="1289304"/>
            <a:ext cx="8948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B75"/>
                </a:solidFill>
              </a:rPr>
              <a:t>* Pflichtfelder</a:t>
            </a:r>
            <a:endParaRPr lang="en-US" sz="90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7446D4B8-0BF0-A5A0-D946-4CFC46AC0E43}"/>
              </a:ext>
            </a:extLst>
          </p:cNvPr>
          <p:cNvSpPr/>
          <p:nvPr/>
        </p:nvSpPr>
        <p:spPr>
          <a:xfrm>
            <a:off x="109728" y="16687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E3F07B6B-330A-4F25-69AA-104EB24AAEFE}"/>
              </a:ext>
            </a:extLst>
          </p:cNvPr>
          <p:cNvSpPr/>
          <p:nvPr/>
        </p:nvSpPr>
        <p:spPr>
          <a:xfrm>
            <a:off x="146304" y="1709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Alle Tickets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40" name="Grafik 39" descr="Abfall mit einfarbiger Füllung">
            <a:extLst>
              <a:ext uri="{FF2B5EF4-FFF2-40B4-BE49-F238E27FC236}">
                <a16:creationId xmlns:a16="http://schemas.microsoft.com/office/drawing/2014/main" id="{A6772877-C34F-2810-E9C7-5184D2334F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364" y="1899504"/>
            <a:ext cx="291640" cy="291640"/>
          </a:xfrm>
          <a:prstGeom prst="rect">
            <a:avLst/>
          </a:prstGeom>
        </p:spPr>
      </p:pic>
      <p:pic>
        <p:nvPicPr>
          <p:cNvPr id="42" name="Grafik 41" descr="Bleistift mit einfarbiger Füllung">
            <a:extLst>
              <a:ext uri="{FF2B5EF4-FFF2-40B4-BE49-F238E27FC236}">
                <a16:creationId xmlns:a16="http://schemas.microsoft.com/office/drawing/2014/main" id="{6157D668-5DCE-7B47-169B-69F445EBE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8951" y="1943776"/>
            <a:ext cx="245273" cy="245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20F1-DB6B-9B27-964A-43E15ED0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DFD36E-975A-703E-2650-CD3621334BFC}"/>
              </a:ext>
            </a:extLst>
          </p:cNvPr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013D48"/>
          </a:solidFill>
          <a:ln w="12700">
            <a:solidFill>
              <a:srgbClr val="013D4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74AED3-19A4-D623-C322-5D94F336DF73}"/>
              </a:ext>
            </a:extLst>
          </p:cNvPr>
          <p:cNvSpPr/>
          <p:nvPr/>
        </p:nvSpPr>
        <p:spPr>
          <a:xfrm>
            <a:off x="0" y="228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440EB36-A6DA-2632-8F7D-31DC0B7B6DE9}"/>
              </a:ext>
            </a:extLst>
          </p:cNvPr>
          <p:cNvSpPr/>
          <p:nvPr/>
        </p:nvSpPr>
        <p:spPr>
          <a:xfrm>
            <a:off x="182880" y="960120"/>
            <a:ext cx="10972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F18AE4-5FE7-D554-BB72-CAB194AFED7E}"/>
              </a:ext>
            </a:extLst>
          </p:cNvPr>
          <p:cNvSpPr/>
          <p:nvPr/>
        </p:nvSpPr>
        <p:spPr>
          <a:xfrm>
            <a:off x="91440" y="1097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EE3"/>
                </a:solidFill>
              </a:rPr>
              <a:t>Dashboard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011501-B5DC-41D3-9BEC-0F56223796A2}"/>
              </a:ext>
            </a:extLst>
          </p:cNvPr>
          <p:cNvSpPr/>
          <p:nvPr/>
        </p:nvSpPr>
        <p:spPr>
          <a:xfrm>
            <a:off x="91440" y="1737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EE3"/>
                </a:solidFill>
              </a:rPr>
              <a:t>Alle Tickets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B228089-9E3B-4F95-DC10-D8FA5B863CC5}"/>
              </a:ext>
            </a:extLst>
          </p:cNvPr>
          <p:cNvSpPr/>
          <p:nvPr/>
        </p:nvSpPr>
        <p:spPr>
          <a:xfrm>
            <a:off x="91440" y="2322576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CF63B0-DBCB-53A0-AB41-23DFC3F74672}"/>
              </a:ext>
            </a:extLst>
          </p:cNvPr>
          <p:cNvSpPr/>
          <p:nvPr/>
        </p:nvSpPr>
        <p:spPr>
          <a:xfrm>
            <a:off x="9144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Neues Ticket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7F3FD4-0A41-7948-759E-47F28053A23E}"/>
              </a:ext>
            </a:extLst>
          </p:cNvPr>
          <p:cNvSpPr/>
          <p:nvPr/>
        </p:nvSpPr>
        <p:spPr>
          <a:xfrm>
            <a:off x="9144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EE3"/>
                </a:solidFill>
              </a:rPr>
              <a:t>Einstellungen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AD3552-8002-6A41-3E49-8FA79A33B69D}"/>
              </a:ext>
            </a:extLst>
          </p:cNvPr>
          <p:cNvSpPr/>
          <p:nvPr/>
        </p:nvSpPr>
        <p:spPr>
          <a:xfrm>
            <a:off x="0" y="4800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B75"/>
                </a:solidFill>
              </a:rPr>
              <a:t>v1.0</a:t>
            </a:r>
            <a:endParaRPr lang="en-US" sz="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414F9A0-75CF-3ACF-D89E-F4C78890C4A3}"/>
              </a:ext>
            </a:extLst>
          </p:cNvPr>
          <p:cNvSpPr/>
          <p:nvPr/>
        </p:nvSpPr>
        <p:spPr>
          <a:xfrm>
            <a:off x="1463040" y="0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59D100B-A277-F27F-503B-127068636EC3}"/>
              </a:ext>
            </a:extLst>
          </p:cNvPr>
          <p:cNvSpPr/>
          <p:nvPr/>
        </p:nvSpPr>
        <p:spPr>
          <a:xfrm>
            <a:off x="1737360" y="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Neues Ticket erfassen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0FA667-00B1-018E-68D1-DE34A2141A28}"/>
              </a:ext>
            </a:extLst>
          </p:cNvPr>
          <p:cNvSpPr/>
          <p:nvPr/>
        </p:nvSpPr>
        <p:spPr>
          <a:xfrm>
            <a:off x="5669280" y="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B75"/>
                </a:solidFill>
              </a:rPr>
              <a:t>Tickets  /  Neues Ticket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A22F3F9-EE37-A458-6258-BFBBFC2B564C}"/>
              </a:ext>
            </a:extLst>
          </p:cNvPr>
          <p:cNvSpPr/>
          <p:nvPr/>
        </p:nvSpPr>
        <p:spPr>
          <a:xfrm>
            <a:off x="1737360" y="8229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Neues Support-Ticket erstellen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7C0714-80BF-B8F8-D8E1-C068EF4E532F}"/>
              </a:ext>
            </a:extLst>
          </p:cNvPr>
          <p:cNvSpPr/>
          <p:nvPr/>
        </p:nvSpPr>
        <p:spPr>
          <a:xfrm>
            <a:off x="1737360" y="12344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Füllen Sie das Formular aus, um ein neues Ticket zu erfassen. Alle mit * markierten Felder sind Pflichtfelder.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E87B6B3-33DD-9B11-7504-25E25D248BF8}"/>
              </a:ext>
            </a:extLst>
          </p:cNvPr>
          <p:cNvSpPr/>
          <p:nvPr/>
        </p:nvSpPr>
        <p:spPr>
          <a:xfrm>
            <a:off x="1600200" y="1508760"/>
            <a:ext cx="7406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1E3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481494-B555-E3B8-CDA4-3BE15C8B0C10}"/>
              </a:ext>
            </a:extLst>
          </p:cNvPr>
          <p:cNvSpPr/>
          <p:nvPr/>
        </p:nvSpPr>
        <p:spPr>
          <a:xfrm>
            <a:off x="1783080" y="1645920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Titel *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3DFB548-1BE0-A446-B5B2-DDC838AAEDF5}"/>
              </a:ext>
            </a:extLst>
          </p:cNvPr>
          <p:cNvSpPr/>
          <p:nvPr/>
        </p:nvSpPr>
        <p:spPr>
          <a:xfrm>
            <a:off x="1783080" y="1883664"/>
            <a:ext cx="7040880" cy="365760"/>
          </a:xfrm>
          <a:prstGeom prst="roundRect">
            <a:avLst>
              <a:gd name="adj" fmla="val 17500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4991166-C0EA-899E-A73A-CCFC1838323E}"/>
              </a:ext>
            </a:extLst>
          </p:cNvPr>
          <p:cNvSpPr/>
          <p:nvPr/>
        </p:nvSpPr>
        <p:spPr>
          <a:xfrm>
            <a:off x="1892808" y="1920240"/>
            <a:ext cx="682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Drucker im 2. OG funktioniert nicht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79A5250-5795-05A5-DC24-BE37EDC4DBBE}"/>
              </a:ext>
            </a:extLst>
          </p:cNvPr>
          <p:cNvSpPr/>
          <p:nvPr/>
        </p:nvSpPr>
        <p:spPr>
          <a:xfrm>
            <a:off x="1783080" y="2359152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Beschreibung *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2D5C112-4749-4C8E-725A-B83541652A1D}"/>
              </a:ext>
            </a:extLst>
          </p:cNvPr>
          <p:cNvSpPr/>
          <p:nvPr/>
        </p:nvSpPr>
        <p:spPr>
          <a:xfrm>
            <a:off x="1783080" y="2596896"/>
            <a:ext cx="7040880" cy="713232"/>
          </a:xfrm>
          <a:prstGeom prst="roundRect">
            <a:avLst>
              <a:gd name="adj" fmla="val 8974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F26A779-AB4B-9A8C-FE1A-2D8C2E9029D8}"/>
              </a:ext>
            </a:extLst>
          </p:cNvPr>
          <p:cNvSpPr/>
          <p:nvPr/>
        </p:nvSpPr>
        <p:spPr>
          <a:xfrm>
            <a:off x="1892808" y="2660904"/>
            <a:ext cx="68214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 Sie das Problem so genau wie möglich ...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03C7ADB-B53C-77DE-5BDD-28945065F11F}"/>
              </a:ext>
            </a:extLst>
          </p:cNvPr>
          <p:cNvSpPr/>
          <p:nvPr/>
        </p:nvSpPr>
        <p:spPr>
          <a:xfrm>
            <a:off x="1783080" y="34198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Priorität *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57D9FA6-4C07-EB38-9EC1-0C92D518DD4E}"/>
              </a:ext>
            </a:extLst>
          </p:cNvPr>
          <p:cNvSpPr/>
          <p:nvPr/>
        </p:nvSpPr>
        <p:spPr>
          <a:xfrm>
            <a:off x="5394960" y="34198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</a:rPr>
              <a:t>Kategorie *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6DFF12B-B479-BB94-7DD0-22032844C2A9}"/>
              </a:ext>
            </a:extLst>
          </p:cNvPr>
          <p:cNvSpPr/>
          <p:nvPr/>
        </p:nvSpPr>
        <p:spPr>
          <a:xfrm>
            <a:off x="1783080" y="3657600"/>
            <a:ext cx="3429000" cy="365760"/>
          </a:xfrm>
          <a:prstGeom prst="roundRect">
            <a:avLst>
              <a:gd name="adj" fmla="val 17500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508E023-AE8A-D63F-7BD3-FE9C3F354AD6}"/>
              </a:ext>
            </a:extLst>
          </p:cNvPr>
          <p:cNvSpPr/>
          <p:nvPr/>
        </p:nvSpPr>
        <p:spPr>
          <a:xfrm>
            <a:off x="1874520" y="3739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F4900C"/>
          </a:solidFill>
          <a:ln w="12700">
            <a:solidFill>
              <a:srgbClr val="F4900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3EC1814-EE6D-7DA3-86CA-FDB74F346755}"/>
              </a:ext>
            </a:extLst>
          </p:cNvPr>
          <p:cNvSpPr/>
          <p:nvPr/>
        </p:nvSpPr>
        <p:spPr>
          <a:xfrm>
            <a:off x="1874520" y="3739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Mittel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2C6FECB-28C9-371C-CE83-A5E867C008C6}"/>
              </a:ext>
            </a:extLst>
          </p:cNvPr>
          <p:cNvSpPr/>
          <p:nvPr/>
        </p:nvSpPr>
        <p:spPr>
          <a:xfrm>
            <a:off x="4983480" y="3712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75"/>
                </a:solidFill>
              </a:rPr>
              <a:t>▾</a:t>
            </a: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747B685-56B7-C3EB-06FB-9CF6E3B60A78}"/>
              </a:ext>
            </a:extLst>
          </p:cNvPr>
          <p:cNvSpPr/>
          <p:nvPr/>
        </p:nvSpPr>
        <p:spPr>
          <a:xfrm>
            <a:off x="5394960" y="3657600"/>
            <a:ext cx="3429000" cy="365760"/>
          </a:xfrm>
          <a:prstGeom prst="roundRect">
            <a:avLst>
              <a:gd name="adj" fmla="val 17500"/>
            </a:avLst>
          </a:prstGeom>
          <a:solidFill>
            <a:srgbClr val="EBF4F6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A09A7B7-AD44-1383-2EB8-60A7B168E00B}"/>
              </a:ext>
            </a:extLst>
          </p:cNvPr>
          <p:cNvSpPr/>
          <p:nvPr/>
        </p:nvSpPr>
        <p:spPr>
          <a:xfrm>
            <a:off x="5504688" y="369417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Hardware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C4FAE98-E15D-C6C7-B063-36B0F6BDD765}"/>
              </a:ext>
            </a:extLst>
          </p:cNvPr>
          <p:cNvSpPr/>
          <p:nvPr/>
        </p:nvSpPr>
        <p:spPr>
          <a:xfrm>
            <a:off x="8622792" y="3712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75"/>
                </a:solidFill>
              </a:rPr>
              <a:t>▾</a:t>
            </a:r>
            <a:endParaRPr lang="en-US" sz="12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ACDB994-D602-8F47-AC58-875A69B41D0B}"/>
              </a:ext>
            </a:extLst>
          </p:cNvPr>
          <p:cNvSpPr/>
          <p:nvPr/>
        </p:nvSpPr>
        <p:spPr>
          <a:xfrm>
            <a:off x="1783080" y="4343400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905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0632F7F-055C-A8A9-B334-77CE40F8F961}"/>
              </a:ext>
            </a:extLst>
          </p:cNvPr>
          <p:cNvSpPr/>
          <p:nvPr/>
        </p:nvSpPr>
        <p:spPr>
          <a:xfrm>
            <a:off x="1783080" y="43434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B75"/>
                </a:solidFill>
              </a:rPr>
              <a:t>Abbrechen</a:t>
            </a: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5CAB221-72D0-817F-C7D4-9057ECC0071C}"/>
              </a:ext>
            </a:extLst>
          </p:cNvPr>
          <p:cNvSpPr/>
          <p:nvPr/>
        </p:nvSpPr>
        <p:spPr>
          <a:xfrm>
            <a:off x="3383280" y="4343400"/>
            <a:ext cx="1645920" cy="402336"/>
          </a:xfrm>
          <a:prstGeom prst="roundRect">
            <a:avLst>
              <a:gd name="adj" fmla="val 20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E9C197B-4578-01C1-B085-99B12062AC65}"/>
              </a:ext>
            </a:extLst>
          </p:cNvPr>
          <p:cNvSpPr/>
          <p:nvPr/>
        </p:nvSpPr>
        <p:spPr>
          <a:xfrm>
            <a:off x="3383280" y="4343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Ticket speichern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95AFBFD-529E-FD20-B703-96B64B542FB8}"/>
              </a:ext>
            </a:extLst>
          </p:cNvPr>
          <p:cNvSpPr/>
          <p:nvPr/>
        </p:nvSpPr>
        <p:spPr>
          <a:xfrm>
            <a:off x="525780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B75"/>
                </a:solidFill>
              </a:rPr>
              <a:t>* Pflichtfelder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2486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D91C-6B52-E048-7522-8A66C8949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B0049E-0AB6-0D1A-82D1-DFB255D64E56}"/>
              </a:ext>
            </a:extLst>
          </p:cNvPr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013D48"/>
          </a:solidFill>
          <a:ln w="12700">
            <a:solidFill>
              <a:srgbClr val="013D4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7D88C0-5EEA-3D25-4C05-5E23175C54E5}"/>
              </a:ext>
            </a:extLst>
          </p:cNvPr>
          <p:cNvSpPr/>
          <p:nvPr/>
        </p:nvSpPr>
        <p:spPr>
          <a:xfrm>
            <a:off x="0" y="228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8B54C9-77E9-85A4-A488-7900E530CF2C}"/>
              </a:ext>
            </a:extLst>
          </p:cNvPr>
          <p:cNvSpPr/>
          <p:nvPr/>
        </p:nvSpPr>
        <p:spPr>
          <a:xfrm>
            <a:off x="182880" y="960120"/>
            <a:ext cx="10972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F54CB2-2063-461F-6C6A-2839A58C2EEA}"/>
              </a:ext>
            </a:extLst>
          </p:cNvPr>
          <p:cNvSpPr/>
          <p:nvPr/>
        </p:nvSpPr>
        <p:spPr>
          <a:xfrm>
            <a:off x="91440" y="1097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EE3"/>
                </a:solidFill>
              </a:rPr>
              <a:t>Dashboard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E26B8C-3BA2-F0C5-5FF3-04DC99729A55}"/>
              </a:ext>
            </a:extLst>
          </p:cNvPr>
          <p:cNvSpPr/>
          <p:nvPr/>
        </p:nvSpPr>
        <p:spPr>
          <a:xfrm>
            <a:off x="91440" y="1737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EE3"/>
                </a:solidFill>
              </a:rPr>
              <a:t>Alle Tickets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291FB6-393B-8D4A-8F34-C5788618B480}"/>
              </a:ext>
            </a:extLst>
          </p:cNvPr>
          <p:cNvSpPr/>
          <p:nvPr/>
        </p:nvSpPr>
        <p:spPr>
          <a:xfrm>
            <a:off x="91440" y="2988783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89A3D5-E4D1-0519-CA1B-35C11FF798B3}"/>
              </a:ext>
            </a:extLst>
          </p:cNvPr>
          <p:cNvSpPr/>
          <p:nvPr/>
        </p:nvSpPr>
        <p:spPr>
          <a:xfrm>
            <a:off x="9144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+ </a:t>
            </a:r>
            <a:r>
              <a:rPr lang="en-US" sz="1100" dirty="0" err="1">
                <a:solidFill>
                  <a:srgbClr val="C8DEE3"/>
                </a:solidFill>
              </a:rPr>
              <a:t>Neues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C8DEE3"/>
                </a:solidFill>
              </a:rPr>
              <a:t>Ticket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342CB8-17A9-2774-A9F2-5742C0844FFA}"/>
              </a:ext>
            </a:extLst>
          </p:cNvPr>
          <p:cNvSpPr/>
          <p:nvPr/>
        </p:nvSpPr>
        <p:spPr>
          <a:xfrm>
            <a:off x="9144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Einstellungen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EE7FAE-E5B6-D4E2-8F50-72960930A979}"/>
              </a:ext>
            </a:extLst>
          </p:cNvPr>
          <p:cNvSpPr/>
          <p:nvPr/>
        </p:nvSpPr>
        <p:spPr>
          <a:xfrm>
            <a:off x="0" y="4800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B75"/>
                </a:solidFill>
              </a:rPr>
              <a:t>v1.0</a:t>
            </a:r>
            <a:endParaRPr lang="en-US" sz="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477250D-1B3C-7F8D-4CF5-AA1BB33DE697}"/>
              </a:ext>
            </a:extLst>
          </p:cNvPr>
          <p:cNvSpPr/>
          <p:nvPr/>
        </p:nvSpPr>
        <p:spPr>
          <a:xfrm>
            <a:off x="1463040" y="0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D8EC2D-2465-DEDA-3C70-37796E14918A}"/>
              </a:ext>
            </a:extLst>
          </p:cNvPr>
          <p:cNvSpPr/>
          <p:nvPr/>
        </p:nvSpPr>
        <p:spPr>
          <a:xfrm>
            <a:off x="1737360" y="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E35"/>
                </a:solidFill>
              </a:rPr>
              <a:t>Einstellungen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A0B0B9-99C5-7E1C-F638-86EC2124708A}"/>
              </a:ext>
            </a:extLst>
          </p:cNvPr>
          <p:cNvSpPr/>
          <p:nvPr/>
        </p:nvSpPr>
        <p:spPr>
          <a:xfrm>
            <a:off x="5669280" y="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B75"/>
                </a:solidFill>
              </a:rPr>
              <a:t>Tickets  /  Neues Ticket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3CECCBF-5C08-2E33-A35F-7C2DDDE1C161}"/>
              </a:ext>
            </a:extLst>
          </p:cNvPr>
          <p:cNvSpPr/>
          <p:nvPr/>
        </p:nvSpPr>
        <p:spPr>
          <a:xfrm>
            <a:off x="1737360" y="8229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</a:t>
            </a:r>
            <a:r>
              <a:rPr lang="en-US" sz="2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Einstellungen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61F9B0-19BA-2934-BC44-083ABA81EE5A}"/>
              </a:ext>
            </a:extLst>
          </p:cNvPr>
          <p:cNvSpPr/>
          <p:nvPr/>
        </p:nvSpPr>
        <p:spPr>
          <a:xfrm>
            <a:off x="1737360" y="12344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A6B75"/>
                </a:solidFill>
              </a:rPr>
              <a:t>Einstellungen</a:t>
            </a:r>
            <a:r>
              <a:rPr lang="en-US" sz="1000" dirty="0">
                <a:solidFill>
                  <a:srgbClr val="4A6B75"/>
                </a:solidFill>
              </a:rPr>
              <a:t> für </a:t>
            </a:r>
            <a:r>
              <a:rPr lang="en-US" sz="1000" dirty="0" err="1">
                <a:solidFill>
                  <a:srgbClr val="4A6B75"/>
                </a:solidFill>
              </a:rPr>
              <a:t>Ihr</a:t>
            </a:r>
            <a:r>
              <a:rPr lang="en-US" sz="1000" dirty="0">
                <a:solidFill>
                  <a:srgbClr val="4A6B75"/>
                </a:solidFill>
              </a:rPr>
              <a:t> </a:t>
            </a:r>
            <a:r>
              <a:rPr lang="en-US" sz="1000" dirty="0" err="1">
                <a:solidFill>
                  <a:srgbClr val="4A6B75"/>
                </a:solidFill>
              </a:rPr>
              <a:t>Profil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8D3CCC9-AB0B-1642-9BBA-0CCA84EABB8E}"/>
              </a:ext>
            </a:extLst>
          </p:cNvPr>
          <p:cNvSpPr/>
          <p:nvPr/>
        </p:nvSpPr>
        <p:spPr>
          <a:xfrm>
            <a:off x="1600200" y="1508760"/>
            <a:ext cx="74066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1E3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B73A1F7-5F85-6802-24E0-DEF8FE3804D6}"/>
              </a:ext>
            </a:extLst>
          </p:cNvPr>
          <p:cNvSpPr/>
          <p:nvPr/>
        </p:nvSpPr>
        <p:spPr>
          <a:xfrm>
            <a:off x="4983480" y="3712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D4A0177-3E38-E27B-1C70-AB0C04228F0A}"/>
              </a:ext>
            </a:extLst>
          </p:cNvPr>
          <p:cNvSpPr/>
          <p:nvPr/>
        </p:nvSpPr>
        <p:spPr>
          <a:xfrm>
            <a:off x="8622792" y="3712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53C4F81-8AF8-CB62-A997-107E2411D474}"/>
              </a:ext>
            </a:extLst>
          </p:cNvPr>
          <p:cNvSpPr/>
          <p:nvPr/>
        </p:nvSpPr>
        <p:spPr>
          <a:xfrm>
            <a:off x="1783080" y="4343400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905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534706C-A41B-DDC0-A111-81FFAAF4CDEF}"/>
              </a:ext>
            </a:extLst>
          </p:cNvPr>
          <p:cNvSpPr/>
          <p:nvPr/>
        </p:nvSpPr>
        <p:spPr>
          <a:xfrm>
            <a:off x="1783080" y="43434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B75"/>
                </a:solidFill>
              </a:rPr>
              <a:t>Abbrechen</a:t>
            </a: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A56E7ED-CF38-3E13-2318-527358FD8FDE}"/>
              </a:ext>
            </a:extLst>
          </p:cNvPr>
          <p:cNvSpPr/>
          <p:nvPr/>
        </p:nvSpPr>
        <p:spPr>
          <a:xfrm>
            <a:off x="3383280" y="4343400"/>
            <a:ext cx="1645920" cy="402336"/>
          </a:xfrm>
          <a:prstGeom prst="roundRect">
            <a:avLst>
              <a:gd name="adj" fmla="val 20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D059B4A-4A76-EACC-1CAF-D4E00735FAC2}"/>
              </a:ext>
            </a:extLst>
          </p:cNvPr>
          <p:cNvSpPr/>
          <p:nvPr/>
        </p:nvSpPr>
        <p:spPr>
          <a:xfrm>
            <a:off x="3383280" y="4343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Einstellung</a:t>
            </a:r>
            <a:r>
              <a:rPr lang="en-US" sz="1100" b="1" dirty="0">
                <a:solidFill>
                  <a:srgbClr val="FFFFFF"/>
                </a:solidFill>
              </a:rPr>
              <a:t> speichern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5962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13D48"/>
          </a:solidFill>
          <a:ln w="12700">
            <a:solidFill>
              <a:srgbClr val="013D4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Mockup-Analyse: Visuelle Hierarchie &amp; Benutzerführung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1772" y="777240"/>
            <a:ext cx="2606040" cy="4069080"/>
          </a:xfrm>
          <a:prstGeom prst="roundRect">
            <a:avLst>
              <a:gd name="adj" fmla="val 4211"/>
            </a:avLst>
          </a:prstGeom>
          <a:solidFill>
            <a:srgbClr val="F7FAFA"/>
          </a:solidFill>
          <a:ln w="12700">
            <a:solidFill>
              <a:srgbClr val="D1E3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98932" y="94183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98932" y="941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0140" y="978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Visuelle Hierarchie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" y="1490472"/>
            <a:ext cx="23317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26364" y="1673352"/>
            <a:ext cx="219456" cy="219456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6364" y="1673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8972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Seitentitel in 20pt Fettschrift – sofort lesbar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" y="2386584"/>
            <a:ext cx="219456" cy="219456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26364" y="2386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8972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Labels klar über jedem Feld (10pt bold)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" y="3099816"/>
            <a:ext cx="219456" cy="219456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26364" y="3099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8972" y="307238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Pflichtfelder mit * markiert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" y="3813048"/>
            <a:ext cx="219456" cy="219456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26364" y="3813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8972" y="37856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Formular auf hellem Card-Hintergrund – Tiefe &amp; Fokus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8980" y="777240"/>
            <a:ext cx="2606040" cy="4069080"/>
          </a:xfrm>
          <a:prstGeom prst="roundRect">
            <a:avLst>
              <a:gd name="adj" fmla="val 4211"/>
            </a:avLst>
          </a:prstGeom>
          <a:solidFill>
            <a:srgbClr val="F7FAFA"/>
          </a:solidFill>
          <a:ln w="12700">
            <a:solidFill>
              <a:srgbClr val="D1E3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406140" y="94183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3406140" y="941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27348" y="978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Benutzerführung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6140" y="1490472"/>
            <a:ext cx="233172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433572" y="1673352"/>
            <a:ext cx="219456" cy="219456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433572" y="1673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2618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Sidebar-Navigation – aktiver Eintrag hervorgehoben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33572" y="2386584"/>
            <a:ext cx="219456" cy="219456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3433572" y="2386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26180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Zwei-Spalten-Layout für Priorität &amp; Kategorie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33572" y="3099816"/>
            <a:ext cx="219456" cy="219456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3433572" y="3099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26180" y="307238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Farbige Prioritäts-Pills für schnelle Übersicht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33572" y="3813048"/>
            <a:ext cx="219456" cy="219456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3433572" y="3813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26180" y="37856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Breadcrumb zeigt aktuelle Position im System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76188" y="777240"/>
            <a:ext cx="2606040" cy="4069080"/>
          </a:xfrm>
          <a:prstGeom prst="roundRect">
            <a:avLst>
              <a:gd name="adj" fmla="val 4211"/>
            </a:avLst>
          </a:prstGeom>
          <a:solidFill>
            <a:srgbClr val="F7FAFA"/>
          </a:solidFill>
          <a:ln w="12700">
            <a:solidFill>
              <a:srgbClr val="D1E3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6213348" y="941832"/>
            <a:ext cx="420624" cy="420624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6213348" y="941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34556" y="9784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Hauptaktion vs. Nebenaktion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3348" y="1490472"/>
            <a:ext cx="2331720" cy="0"/>
          </a:xfrm>
          <a:prstGeom prst="line">
            <a:avLst/>
          </a:prstGeom>
          <a:noFill/>
          <a:ln w="19050">
            <a:solidFill>
              <a:srgbClr val="E538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6240780" y="1673352"/>
            <a:ext cx="219456" cy="219456"/>
          </a:xfrm>
          <a:prstGeom prst="ellipse">
            <a:avLst/>
          </a:prstGeom>
          <a:solidFill>
            <a:srgbClr val="E5383B">
              <a:alpha val="80000"/>
            </a:srgbClr>
          </a:solidFill>
          <a:ln w="12700">
            <a:solidFill>
              <a:srgbClr val="E5383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6240780" y="1673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33388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'Ticket speichern' – Teal, fett, Primärbutton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40780" y="2386584"/>
            <a:ext cx="219456" cy="219456"/>
          </a:xfrm>
          <a:prstGeom prst="ellipse">
            <a:avLst/>
          </a:prstGeom>
          <a:solidFill>
            <a:srgbClr val="E5383B">
              <a:alpha val="80000"/>
            </a:srgbClr>
          </a:solidFill>
          <a:ln w="12700">
            <a:solidFill>
              <a:srgbClr val="E5383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6240780" y="2386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33388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'Abbrechen' – Outline-Stil, untergeordnet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40780" y="3099816"/>
            <a:ext cx="219456" cy="219456"/>
          </a:xfrm>
          <a:prstGeom prst="ellipse">
            <a:avLst/>
          </a:prstGeom>
          <a:solidFill>
            <a:srgbClr val="E5383B">
              <a:alpha val="80000"/>
            </a:srgbClr>
          </a:solidFill>
          <a:ln w="12700">
            <a:solidFill>
              <a:srgbClr val="E5383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6240780" y="3099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33388" y="307238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Klare visuelle Gewichtung der Aktionen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40780" y="3813048"/>
            <a:ext cx="219456" cy="219456"/>
          </a:xfrm>
          <a:prstGeom prst="ellipse">
            <a:avLst/>
          </a:prstGeom>
          <a:solidFill>
            <a:srgbClr val="E5383B">
              <a:alpha val="80000"/>
            </a:srgbClr>
          </a:solidFill>
          <a:ln w="12700">
            <a:solidFill>
              <a:srgbClr val="E5383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6240780" y="3813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33388" y="37856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B75"/>
                </a:solidFill>
              </a:rPr>
              <a:t>Buttons am Ende des Formulars – logischer Fluss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D1E3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B75"/>
                </a:solidFill>
              </a:rPr>
              <a:t>Web Design · Mockup-Übung — Support-App · Neues Ticket erfassen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2e461c6-591f-4920-9cf0-f1389542f8ad}" enabled="1" method="Standard" siteId="{2cda5d11-f0ac-46b3-967d-af1b2e1bd01a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Macintosh PowerPoint</Application>
  <PresentationFormat>Bildschirmpräsentation (16:9)</PresentationFormat>
  <Paragraphs>104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Support-App Mockup – Neues Ticket erfassen</dc:title>
  <dc:subject>PptxGenJS Presentation</dc:subject>
  <dc:creator>PptxGenJS</dc:creator>
  <cp:lastModifiedBy>Meskovic Muamer (IT-DS-CEN8)</cp:lastModifiedBy>
  <cp:revision>5</cp:revision>
  <dcterms:created xsi:type="dcterms:W3CDTF">2026-06-20T06:08:27Z</dcterms:created>
  <dcterms:modified xsi:type="dcterms:W3CDTF">2026-06-20T06:26:46Z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C2 - Intern</vt:lpwstr>
  </property>
</Properties>
</file>